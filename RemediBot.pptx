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svg" ContentType="image/svg+xml"/>
  <Override PartName="/ppt/media/image2.svg" ContentType="image/svg+xml"/>
  <Override PartName="/ppt/media/image3.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83" r:id="rId4"/>
    <p:sldId id="306" r:id="rId5"/>
    <p:sldId id="307" r:id="rId6"/>
    <p:sldId id="305" r:id="rId7"/>
    <p:sldId id="308" r:id="rId8"/>
    <p:sldId id="309" r:id="rId9"/>
    <p:sldId id="311" r:id="rId10"/>
    <p:sldId id="310" r:id="rId11"/>
    <p:sldId id="257" r:id="rId12"/>
    <p:sldId id="316" r:id="rId13"/>
    <p:sldId id="31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195"/>
    <p:restoredTop sz="96327"/>
  </p:normalViewPr>
  <p:slideViewPr>
    <p:cSldViewPr snapToGrid="0" snapToObjects="1">
      <p:cViewPr varScale="1">
        <p:scale>
          <a:sx n="80" d="100"/>
          <a:sy n="80" d="100"/>
        </p:scale>
        <p:origin x="67" y="446"/>
      </p:cViewPr>
      <p:guideLst>
        <p:guide orient="horz" pos="2179"/>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AB78DC67-088D-DD47-BD87-894CFFBA782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BD4D37-3DAE-8849-A4F8-3F5A2883E495}"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10"/>
          </p:nvPr>
        </p:nvSpPr>
        <p:spPr/>
        <p:txBody>
          <a:bodyPr/>
          <a:lstStyle/>
          <a:p>
            <a:fld id="{AB78DC67-088D-DD47-BD87-894CFFBA782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BD4D37-3DAE-8849-A4F8-3F5A2883E495}"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endParaRPr lang="en-GB"/>
          </a:p>
        </p:txBody>
      </p:sp>
      <p:sp>
        <p:nvSpPr>
          <p:cNvPr id="4" name="Date Placeholder 3"/>
          <p:cNvSpPr>
            <a:spLocks noGrp="1"/>
          </p:cNvSpPr>
          <p:nvPr>
            <p:ph type="dt" sz="half" idx="10"/>
          </p:nvPr>
        </p:nvSpPr>
        <p:spPr/>
        <p:txBody>
          <a:bodyPr/>
          <a:lstStyle/>
          <a:p>
            <a:fld id="{AB78DC67-088D-DD47-BD87-894CFFBA782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BD4D37-3DAE-8849-A4F8-3F5A2883E495}"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5" name="Date Placeholder 4"/>
          <p:cNvSpPr>
            <a:spLocks noGrp="1"/>
          </p:cNvSpPr>
          <p:nvPr>
            <p:ph type="dt" sz="half" idx="10"/>
          </p:nvPr>
        </p:nvSpPr>
        <p:spPr/>
        <p:txBody>
          <a:bodyPr/>
          <a:lstStyle/>
          <a:p>
            <a:fld id="{AB78DC67-088D-DD47-BD87-894CFFBA782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BD4D37-3DAE-8849-A4F8-3F5A2883E495}"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7" name="Date Placeholder 6"/>
          <p:cNvSpPr>
            <a:spLocks noGrp="1"/>
          </p:cNvSpPr>
          <p:nvPr>
            <p:ph type="dt" sz="half" idx="10"/>
          </p:nvPr>
        </p:nvSpPr>
        <p:spPr/>
        <p:txBody>
          <a:bodyPr/>
          <a:lstStyle/>
          <a:p>
            <a:fld id="{AB78DC67-088D-DD47-BD87-894CFFBA782D}"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DBD4D37-3DAE-8849-A4F8-3F5A2883E495}"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AB78DC67-088D-DD47-BD87-894CFFBA782D}"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DBD4D37-3DAE-8849-A4F8-3F5A2883E495}"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B78DC67-088D-DD47-BD87-894CFFBA782D}"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DBD4D37-3DAE-8849-A4F8-3F5A2883E495}"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a:p>
        </p:txBody>
      </p:sp>
      <p:sp>
        <p:nvSpPr>
          <p:cNvPr id="5" name="Date Placeholder 4"/>
          <p:cNvSpPr>
            <a:spLocks noGrp="1"/>
          </p:cNvSpPr>
          <p:nvPr>
            <p:ph type="dt" sz="half" idx="10"/>
          </p:nvPr>
        </p:nvSpPr>
        <p:spPr/>
        <p:txBody>
          <a:bodyPr/>
          <a:lstStyle/>
          <a:p>
            <a:fld id="{AB78DC67-088D-DD47-BD87-894CFFBA782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BD4D37-3DAE-8849-A4F8-3F5A2883E495}"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a:p>
        </p:txBody>
      </p:sp>
      <p:sp>
        <p:nvSpPr>
          <p:cNvPr id="5" name="Date Placeholder 4"/>
          <p:cNvSpPr>
            <a:spLocks noGrp="1"/>
          </p:cNvSpPr>
          <p:nvPr>
            <p:ph type="dt" sz="half" idx="10"/>
          </p:nvPr>
        </p:nvSpPr>
        <p:spPr/>
        <p:txBody>
          <a:bodyPr/>
          <a:lstStyle/>
          <a:p>
            <a:fld id="{AB78DC67-088D-DD47-BD87-894CFFBA782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BD4D37-3DAE-8849-A4F8-3F5A2883E495}"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10"/>
          </p:nvPr>
        </p:nvSpPr>
        <p:spPr/>
        <p:txBody>
          <a:bodyPr/>
          <a:lstStyle/>
          <a:p>
            <a:fld id="{AB78DC67-088D-DD47-BD87-894CFFBA782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BD4D37-3DAE-8849-A4F8-3F5A2883E495}"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10"/>
          </p:nvPr>
        </p:nvSpPr>
        <p:spPr/>
        <p:txBody>
          <a:bodyPr/>
          <a:lstStyle/>
          <a:p>
            <a:fld id="{AB78DC67-088D-DD47-BD87-894CFFBA782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BD4D37-3DAE-8849-A4F8-3F5A2883E495}"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AB78DC67-088D-DD47-BD87-894CFFBA782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BD4D37-3DAE-8849-A4F8-3F5A2883E495}"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78DC67-088D-DD47-BD87-894CFFBA782D}"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BD4D37-3DAE-8849-A4F8-3F5A2883E495}" type="slidenum">
              <a:rPr lang="en-US" smtClean="0"/>
            </a:fld>
            <a:endParaRPr lang="en-US"/>
          </a:p>
        </p:txBody>
      </p:sp>
      <p:pic>
        <p:nvPicPr>
          <p:cNvPr id="8" name="Picture 7" descr="Chart&#10;&#10;Description automatically generated with medium confidence"/>
          <p:cNvPicPr>
            <a:picLocks noChangeAspect="1"/>
          </p:cNvPicPr>
          <p:nvPr userDrawn="1"/>
        </p:nvPicPr>
        <p:blipFill>
          <a:blip r:embed="rId13"/>
          <a:stretch>
            <a:fillRect/>
          </a:stretch>
        </p:blipFill>
        <p:spPr>
          <a:xfrm>
            <a:off x="9393" y="0"/>
            <a:ext cx="12173214" cy="6858000"/>
          </a:xfrm>
          <a:prstGeom prst="rect">
            <a:avLst/>
          </a:prstGeom>
        </p:spPr>
      </p:pic>
      <p:sp>
        <p:nvSpPr>
          <p:cNvPr id="9" name="Rectangle 8"/>
          <p:cNvSpPr/>
          <p:nvPr userDrawn="1"/>
        </p:nvSpPr>
        <p:spPr>
          <a:xfrm>
            <a:off x="4258490" y="6283234"/>
            <a:ext cx="6147639" cy="369332"/>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              Department of Computer Science and Engineering</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5.png"/><Relationship Id="rId4" Type="http://schemas.openxmlformats.org/officeDocument/2006/relationships/image" Target="../media/image2.svg"/><Relationship Id="rId3" Type="http://schemas.openxmlformats.org/officeDocument/2006/relationships/image" Target="../media/image4.png"/><Relationship Id="rId2" Type="http://schemas.openxmlformats.org/officeDocument/2006/relationships/image" Target="../media/image1.sv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6.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logo&#10;&#10;Description automatically generated"/>
          <p:cNvPicPr>
            <a:picLocks noChangeAspect="1"/>
          </p:cNvPicPr>
          <p:nvPr/>
        </p:nvPicPr>
        <p:blipFill>
          <a:blip r:embed="rId1"/>
          <a:stretch>
            <a:fillRect/>
          </a:stretch>
        </p:blipFill>
        <p:spPr>
          <a:xfrm>
            <a:off x="11151" y="0"/>
            <a:ext cx="12192000" cy="6858000"/>
          </a:xfrm>
          <a:prstGeom prst="rect">
            <a:avLst/>
          </a:prstGeom>
        </p:spPr>
      </p:pic>
      <p:sp>
        <p:nvSpPr>
          <p:cNvPr id="3" name="Rectangle 2"/>
          <p:cNvSpPr/>
          <p:nvPr/>
        </p:nvSpPr>
        <p:spPr>
          <a:xfrm>
            <a:off x="1039495" y="3308985"/>
            <a:ext cx="4857750" cy="1198880"/>
          </a:xfrm>
          <a:prstGeom prst="rect">
            <a:avLst/>
          </a:prstGeom>
          <a:noFill/>
        </p:spPr>
        <p:txBody>
          <a:bodyPr wrap="square" lIns="91440" tIns="45720" rIns="91440" bIns="45720">
            <a:spAutoFit/>
            <a:scene3d>
              <a:camera prst="orthographicFront"/>
              <a:lightRig rig="soft" dir="t">
                <a:rot lat="0" lon="0" rev="15600000"/>
              </a:lightRig>
            </a:scene3d>
            <a:sp3d extrusionH="57150" prstMaterial="softEdge">
              <a:bevelT w="25400" h="38100"/>
            </a:sp3d>
          </a:bodyPr>
          <a:p>
            <a:pPr algn="ctr"/>
            <a:r>
              <a:rPr lang="en-US" sz="3600" b="1" dirty="0">
                <a:solidFill>
                  <a:srgbClr val="7030A0"/>
                </a:solidFill>
              </a:rPr>
              <a:t>Industry Oriented Mini Project Review:2</a:t>
            </a:r>
            <a:endParaRPr lang="en-US" sz="3600" b="1" dirty="0">
              <a:solidFill>
                <a:srgbClr val="7030A0"/>
              </a:solidFill>
            </a:endParaRPr>
          </a:p>
        </p:txBody>
      </p:sp>
      <p:sp>
        <p:nvSpPr>
          <p:cNvPr id="4" name="Rectangle 3"/>
          <p:cNvSpPr/>
          <p:nvPr/>
        </p:nvSpPr>
        <p:spPr>
          <a:xfrm>
            <a:off x="2530090" y="4777400"/>
            <a:ext cx="1877060" cy="58356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p>
            <a:pPr algn="ctr"/>
            <a:r>
              <a:rPr lang="en-US" sz="3200" b="1" cap="none" spc="0" dirty="0">
                <a:solidFill>
                  <a:srgbClr val="7030A0"/>
                </a:solidFill>
                <a:effectLst/>
              </a:rPr>
              <a:t>Batch:13</a:t>
            </a:r>
            <a:endParaRPr lang="en-US" sz="3200" b="1" cap="none" spc="0" dirty="0">
              <a:solidFill>
                <a:srgbClr val="7030A0"/>
              </a:solidFill>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66207" y="1122363"/>
            <a:ext cx="10868296" cy="939519"/>
          </a:xfrm>
        </p:spPr>
        <p:txBody>
          <a:bodyPr>
            <a:normAutofit/>
          </a:bodyPr>
          <a:lstStyle/>
          <a:p>
            <a:r>
              <a:rPr lang="en-US" sz="4000" b="1" dirty="0">
                <a:latin typeface="Times New Roman" panose="02020603050405020304" pitchFamily="18" charset="0"/>
                <a:cs typeface="Times New Roman" panose="02020603050405020304" pitchFamily="18" charset="0"/>
              </a:rPr>
              <a:t>   RemediBot: Your Natural Health Advisor</a:t>
            </a:r>
            <a:endParaRPr lang="en-US" sz="4000" b="1" u="sng" dirty="0">
              <a:latin typeface="Bahnschrift" panose="020B0502040204020203" pitchFamily="34" charset="0"/>
              <a:cs typeface="Times New Roman" panose="02020603050405020304" pitchFamily="18" charset="0"/>
            </a:endParaRPr>
          </a:p>
        </p:txBody>
      </p:sp>
      <p:sp>
        <p:nvSpPr>
          <p:cNvPr id="3" name="Subtitle 2"/>
          <p:cNvSpPr>
            <a:spLocks noGrp="1"/>
          </p:cNvSpPr>
          <p:nvPr>
            <p:ph type="subTitle" idx="1"/>
          </p:nvPr>
        </p:nvSpPr>
        <p:spPr>
          <a:xfrm>
            <a:off x="1391285" y="2845096"/>
            <a:ext cx="2420983" cy="1862252"/>
          </a:xfrm>
        </p:spPr>
        <p:txBody>
          <a:bodyPr>
            <a:normAutofit lnSpcReduction="10000"/>
          </a:bodyPr>
          <a:lstStyle/>
          <a:p>
            <a:r>
              <a:rPr lang="en-US" b="1" u="sng" dirty="0">
                <a:latin typeface="Times New Roman" panose="02020603050405020304" pitchFamily="18" charset="0"/>
                <a:cs typeface="Times New Roman" panose="02020603050405020304" pitchFamily="18" charset="0"/>
              </a:rPr>
              <a:t>GUIDE</a:t>
            </a:r>
            <a:endParaRPr lang="en-US" b="1" u="sng"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Mr. Md. Ahmed Mohiuddin</a:t>
            </a:r>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Assistant Professor</a:t>
            </a:r>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p:txBody>
      </p:sp>
      <p:sp>
        <p:nvSpPr>
          <p:cNvPr id="4" name="Rectangle 3"/>
          <p:cNvSpPr/>
          <p:nvPr/>
        </p:nvSpPr>
        <p:spPr>
          <a:xfrm>
            <a:off x="7299311" y="2712381"/>
            <a:ext cx="3551184" cy="2584450"/>
          </a:xfrm>
          <a:prstGeom prst="rect">
            <a:avLst/>
          </a:prstGeom>
        </p:spPr>
        <p:txBody>
          <a:bodyPr wrap="square">
            <a:spAutoFit/>
          </a:bodyPr>
          <a:lstStyle/>
          <a:p>
            <a:r>
              <a:rPr lang="en-US" b="1" u="sng" dirty="0">
                <a:latin typeface="Times New Roman" panose="02020603050405020304" pitchFamily="18" charset="0"/>
                <a:cs typeface="Times New Roman" panose="02020603050405020304" pitchFamily="18" charset="0"/>
              </a:rPr>
              <a:t>Team Members </a:t>
            </a:r>
            <a:endParaRPr lang="en-US" b="1" u="sng" dirty="0">
              <a:latin typeface="Times New Roman" panose="02020603050405020304" pitchFamily="18" charset="0"/>
              <a:cs typeface="Times New Roman" panose="02020603050405020304" pitchFamily="18" charset="0"/>
            </a:endParaRPr>
          </a:p>
          <a:p>
            <a:r>
              <a:rPr lang="en-US" b="1" u="sng" dirty="0">
                <a:latin typeface="Times New Roman" panose="02020603050405020304" pitchFamily="18" charset="0"/>
                <a:cs typeface="Times New Roman" panose="02020603050405020304" pitchFamily="18" charset="0"/>
              </a:rPr>
              <a:t>Year/Section</a:t>
            </a:r>
            <a:r>
              <a:rPr lang="en-US" b="1" dirty="0">
                <a:latin typeface="Times New Roman" panose="02020603050405020304" pitchFamily="18" charset="0"/>
                <a:cs typeface="Times New Roman" panose="02020603050405020304" pitchFamily="18" charset="0"/>
              </a:rPr>
              <a:t>-3-2 CSE-B</a:t>
            </a:r>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r>
              <a:rPr lang="en-US" b="1" dirty="0">
                <a:latin typeface="Bahnschrift SemiLight SemiCondensed" panose="020B0502040204020203" pitchFamily="34" charset="0"/>
                <a:cs typeface="Times New Roman" panose="02020603050405020304" pitchFamily="18" charset="0"/>
              </a:rPr>
              <a:t>20QM1A0596- Tehmeena Begum</a:t>
            </a:r>
            <a:endParaRPr lang="en-US" b="1" dirty="0">
              <a:latin typeface="Bahnschrift SemiLight SemiCondensed" panose="020B0502040204020203" pitchFamily="34" charset="0"/>
              <a:cs typeface="Times New Roman" panose="02020603050405020304" pitchFamily="18" charset="0"/>
            </a:endParaRPr>
          </a:p>
          <a:p>
            <a:r>
              <a:rPr lang="en-US" b="1" dirty="0">
                <a:latin typeface="Bahnschrift SemiLight SemiCondensed" panose="020B0502040204020203" pitchFamily="34" charset="0"/>
                <a:cs typeface="Times New Roman" panose="02020603050405020304" pitchFamily="18" charset="0"/>
              </a:rPr>
              <a:t>20QM1A05A3- V. Geetha Shivani</a:t>
            </a:r>
            <a:endParaRPr lang="en-US" b="1" dirty="0">
              <a:latin typeface="Bahnschrift SemiLight SemiCondensed" panose="020B0502040204020203" pitchFamily="34" charset="0"/>
              <a:cs typeface="Times New Roman" panose="02020603050405020304" pitchFamily="18" charset="0"/>
            </a:endParaRPr>
          </a:p>
          <a:p>
            <a:r>
              <a:rPr lang="en-US" b="1" dirty="0">
                <a:latin typeface="Bahnschrift SemiLight SemiCondensed" panose="020B0502040204020203" pitchFamily="34" charset="0"/>
                <a:cs typeface="Times New Roman" panose="02020603050405020304" pitchFamily="18" charset="0"/>
              </a:rPr>
              <a:t>21QM5A0504- B. Sai Teja</a:t>
            </a:r>
            <a:endParaRPr lang="en-US" b="1" dirty="0">
              <a:latin typeface="Bahnschrift SemiLight SemiCondensed" panose="020B0502040204020203" pitchFamily="34" charset="0"/>
              <a:cs typeface="Times New Roman" panose="02020603050405020304" pitchFamily="18" charset="0"/>
            </a:endParaRPr>
          </a:p>
          <a:p>
            <a:r>
              <a:rPr lang="en-US" b="1" dirty="0">
                <a:latin typeface="Bahnschrift SemiLight SemiCondensed" panose="020B0502040204020203" pitchFamily="34" charset="0"/>
                <a:cs typeface="Times New Roman" panose="02020603050405020304" pitchFamily="18" charset="0"/>
              </a:rPr>
              <a:t>20QM1A0569- P. Akash Yadav </a:t>
            </a:r>
            <a:endParaRPr lang="en-US" b="1" dirty="0">
              <a:latin typeface="Bahnschrift SemiLight SemiCondensed" panose="020B0502040204020203" pitchFamily="34"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5905" y="1059180"/>
            <a:ext cx="10515600" cy="1325563"/>
          </a:xfrm>
        </p:spPr>
        <p:txBody>
          <a:bodyPr/>
          <a:lstStyle/>
          <a:p>
            <a:r>
              <a:rPr lang="en-US" dirty="0"/>
              <a:t>Problem Statement</a:t>
            </a:r>
            <a:endParaRPr lang="en-US" dirty="0"/>
          </a:p>
        </p:txBody>
      </p:sp>
      <p:sp>
        <p:nvSpPr>
          <p:cNvPr id="3" name="TextBox 2"/>
          <p:cNvSpPr txBox="1"/>
          <p:nvPr/>
        </p:nvSpPr>
        <p:spPr>
          <a:xfrm>
            <a:off x="72639" y="2683564"/>
            <a:ext cx="11615778" cy="2246769"/>
          </a:xfrm>
          <a:prstGeom prst="rect">
            <a:avLst/>
          </a:prstGeom>
          <a:noFill/>
        </p:spPr>
        <p:txBody>
          <a:bodyPr wrap="square" rtlCol="0">
            <a:spAutoFit/>
          </a:bodyPr>
          <a:lstStyle/>
          <a:p>
            <a:pPr algn="just"/>
            <a:r>
              <a:rPr lang="en-US" sz="2800" dirty="0"/>
              <a:t>Patients can’t always afford to see a doctor for minor ailments.</a:t>
            </a:r>
            <a:endParaRPr lang="en-US" sz="2800" dirty="0"/>
          </a:p>
          <a:p>
            <a:pPr algn="just"/>
            <a:r>
              <a:rPr lang="en-US" sz="2800" dirty="0"/>
              <a:t>Especially for those without insurance or rural areas, it can be difficult to get medical attention for everyday  health problems. A chatbot that displays home remedies can provide a cost- effective and accessible solution.</a:t>
            </a: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4170" y="1120140"/>
            <a:ext cx="10515600" cy="1325563"/>
          </a:xfrm>
        </p:spPr>
        <p:txBody>
          <a:bodyPr/>
          <a:lstStyle/>
          <a:p>
            <a:r>
              <a:rPr lang="en-US" dirty="0"/>
              <a:t>Introduction</a:t>
            </a:r>
            <a:endParaRPr lang="en-US" dirty="0"/>
          </a:p>
        </p:txBody>
      </p:sp>
      <p:sp>
        <p:nvSpPr>
          <p:cNvPr id="3" name="TextBox 2"/>
          <p:cNvSpPr txBox="1"/>
          <p:nvPr/>
        </p:nvSpPr>
        <p:spPr>
          <a:xfrm>
            <a:off x="344290" y="2591209"/>
            <a:ext cx="9535206" cy="3477875"/>
          </a:xfrm>
          <a:prstGeom prst="rect">
            <a:avLst/>
          </a:prstGeom>
          <a:noFill/>
        </p:spPr>
        <p:txBody>
          <a:bodyPr wrap="square" rtlCol="0">
            <a:spAutoFit/>
          </a:bodyPr>
          <a:lstStyle/>
          <a:p>
            <a:r>
              <a:rPr lang="en-IN" sz="2000" dirty="0"/>
              <a:t>Many people prefer using home remedies to treat minor health issues such as cold, headache, stomach ache, and skin problems. However, finding the right remedy for a specific issue can be challenging, and people often seek information and advice from various sources, which may not always be reliable or accurate.</a:t>
            </a:r>
            <a:endParaRPr lang="en-IN" sz="2000" dirty="0"/>
          </a:p>
          <a:p>
            <a:endParaRPr lang="en-IN" sz="2000" dirty="0"/>
          </a:p>
          <a:p>
            <a:r>
              <a:rPr lang="en-IN" sz="2000" dirty="0"/>
              <a:t>To address this problem, a chatbot can be developed to provide users with accurate and personalized information on home remedies for various health issues. The chatbot can also offer advice on the proper use and dosage of remedies, as well as precautions and possible side effects.</a:t>
            </a:r>
            <a:endParaRPr lang="en-IN" sz="2000" dirty="0"/>
          </a:p>
          <a:p>
            <a:endParaRPr lang="en-IN" sz="2000" dirty="0"/>
          </a:p>
          <a:p>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88118" y="1458106"/>
            <a:ext cx="10346635" cy="953135"/>
          </a:xfrm>
          <a:prstGeom prst="rect">
            <a:avLst/>
          </a:prstGeom>
          <a:noFill/>
        </p:spPr>
        <p:txBody>
          <a:bodyPr wrap="square" lIns="91440" tIns="45720" rIns="91440" bIns="45720">
            <a:spAutoFit/>
          </a:bodyPr>
          <a:lstStyle/>
          <a:p>
            <a:r>
              <a:rPr lang="en-US" sz="2800" b="0" cap="none" spc="0" dirty="0">
                <a:ln w="0"/>
                <a:solidFill>
                  <a:schemeClr val="tx1"/>
                </a:solidFill>
                <a:effectLst>
                  <a:outerShdw blurRad="38100" dist="19050" dir="2700000" algn="tl" rotWithShape="0">
                    <a:schemeClr val="dk1">
                      <a:alpha val="40000"/>
                    </a:schemeClr>
                  </a:outerShdw>
                </a:effectLst>
                <a:latin typeface="Calibri" panose="020F0502020204030204" charset="0"/>
                <a:cs typeface="Calibri" panose="020F0502020204030204" charset="0"/>
              </a:rPr>
              <a:t>Discover easy and effective home remedies with our personalized CHATBOT, helping you take charge of your health with just one click</a:t>
            </a:r>
            <a:endParaRPr lang="en-US" sz="2800" b="0" cap="none" spc="0" dirty="0">
              <a:ln w="0"/>
              <a:solidFill>
                <a:schemeClr val="tx1"/>
              </a:solidFill>
              <a:effectLst>
                <a:outerShdw blurRad="38100" dist="19050" dir="2700000" algn="tl" rotWithShape="0">
                  <a:schemeClr val="dk1">
                    <a:alpha val="40000"/>
                  </a:schemeClr>
                </a:outerShdw>
              </a:effectLst>
              <a:latin typeface="Calibri" panose="020F0502020204030204" charset="0"/>
              <a:cs typeface="Calibri" panose="020F0502020204030204" charset="0"/>
            </a:endParaRPr>
          </a:p>
        </p:txBody>
      </p:sp>
      <p:pic>
        <p:nvPicPr>
          <p:cNvPr id="9" name="Graphic 8" descr="Checkmark with solid fill"/>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42228" y="3026576"/>
            <a:ext cx="805069" cy="805069"/>
          </a:xfrm>
          <a:prstGeom prst="rect">
            <a:avLst/>
          </a:prstGeom>
        </p:spPr>
      </p:pic>
      <p:pic>
        <p:nvPicPr>
          <p:cNvPr id="11" name="Graphic 10" descr="Robot with solid fill"/>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35737" y="2971911"/>
            <a:ext cx="914400" cy="914400"/>
          </a:xfrm>
          <a:prstGeom prst="rect">
            <a:avLst/>
          </a:prstGeom>
        </p:spPr>
      </p:pic>
      <p:pic>
        <p:nvPicPr>
          <p:cNvPr id="13" name="Graphic 12" descr="Stopwatch with solid fill"/>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39017" y="2971911"/>
            <a:ext cx="914400" cy="914400"/>
          </a:xfrm>
          <a:prstGeom prst="rect">
            <a:avLst/>
          </a:prstGeom>
        </p:spPr>
      </p:pic>
      <p:sp>
        <p:nvSpPr>
          <p:cNvPr id="18" name="TextBox 17"/>
          <p:cNvSpPr txBox="1"/>
          <p:nvPr/>
        </p:nvSpPr>
        <p:spPr>
          <a:xfrm>
            <a:off x="296628" y="3931396"/>
            <a:ext cx="2296270" cy="369332"/>
          </a:xfrm>
          <a:prstGeom prst="rect">
            <a:avLst/>
          </a:prstGeom>
          <a:noFill/>
        </p:spPr>
        <p:txBody>
          <a:bodyPr wrap="none" rtlCol="0">
            <a:spAutoFit/>
          </a:bodyPr>
          <a:lstStyle/>
          <a:p>
            <a:r>
              <a:rPr lang="en-US" dirty="0"/>
              <a:t>Provides Easy Access</a:t>
            </a:r>
            <a:endParaRPr lang="en-US" dirty="0"/>
          </a:p>
        </p:txBody>
      </p:sp>
      <p:sp>
        <p:nvSpPr>
          <p:cNvPr id="19" name="TextBox 18"/>
          <p:cNvSpPr txBox="1"/>
          <p:nvPr/>
        </p:nvSpPr>
        <p:spPr>
          <a:xfrm>
            <a:off x="3961279" y="3931166"/>
            <a:ext cx="4105611" cy="369332"/>
          </a:xfrm>
          <a:prstGeom prst="rect">
            <a:avLst/>
          </a:prstGeom>
          <a:noFill/>
        </p:spPr>
        <p:txBody>
          <a:bodyPr wrap="none" rtlCol="0">
            <a:spAutoFit/>
          </a:bodyPr>
          <a:lstStyle/>
          <a:p>
            <a:r>
              <a:rPr lang="en-US" dirty="0"/>
              <a:t>Offers personalized recommendations</a:t>
            </a:r>
            <a:endParaRPr lang="en-US" dirty="0"/>
          </a:p>
        </p:txBody>
      </p:sp>
      <p:sp>
        <p:nvSpPr>
          <p:cNvPr id="20" name="TextBox 19"/>
          <p:cNvSpPr txBox="1"/>
          <p:nvPr/>
        </p:nvSpPr>
        <p:spPr>
          <a:xfrm>
            <a:off x="9363926" y="3931166"/>
            <a:ext cx="2464136" cy="369332"/>
          </a:xfrm>
          <a:prstGeom prst="rect">
            <a:avLst/>
          </a:prstGeom>
          <a:noFill/>
        </p:spPr>
        <p:txBody>
          <a:bodyPr wrap="none" rtlCol="0">
            <a:spAutoFit/>
          </a:bodyPr>
          <a:lstStyle/>
          <a:p>
            <a:r>
              <a:rPr lang="en-US" dirty="0"/>
              <a:t>Saves time and Money</a:t>
            </a:r>
            <a:endParaRPr lang="en-US" dirty="0"/>
          </a:p>
        </p:txBody>
      </p:sp>
      <p:sp>
        <p:nvSpPr>
          <p:cNvPr id="21" name="TextBox 20"/>
          <p:cNvSpPr txBox="1"/>
          <p:nvPr/>
        </p:nvSpPr>
        <p:spPr>
          <a:xfrm>
            <a:off x="245" y="4518938"/>
            <a:ext cx="2831883" cy="646331"/>
          </a:xfrm>
          <a:prstGeom prst="rect">
            <a:avLst/>
          </a:prstGeom>
          <a:noFill/>
        </p:spPr>
        <p:txBody>
          <a:bodyPr wrap="square" rtlCol="0">
            <a:spAutoFit/>
          </a:bodyPr>
          <a:lstStyle/>
          <a:p>
            <a:pPr algn="ctr"/>
            <a:r>
              <a:rPr lang="en-US" dirty="0"/>
              <a:t>Users can quickly access home remedies</a:t>
            </a:r>
            <a:endParaRPr lang="en-US" dirty="0"/>
          </a:p>
        </p:txBody>
      </p:sp>
      <p:sp>
        <p:nvSpPr>
          <p:cNvPr id="22" name="TextBox 21"/>
          <p:cNvSpPr txBox="1"/>
          <p:nvPr/>
        </p:nvSpPr>
        <p:spPr>
          <a:xfrm>
            <a:off x="3545535" y="4518708"/>
            <a:ext cx="4830417" cy="646331"/>
          </a:xfrm>
          <a:prstGeom prst="rect">
            <a:avLst/>
          </a:prstGeom>
          <a:noFill/>
        </p:spPr>
        <p:txBody>
          <a:bodyPr wrap="square" rtlCol="0">
            <a:spAutoFit/>
          </a:bodyPr>
          <a:lstStyle/>
          <a:p>
            <a:pPr algn="ctr"/>
            <a:r>
              <a:rPr lang="en-US" dirty="0" err="1"/>
              <a:t>ChatBot</a:t>
            </a:r>
            <a:r>
              <a:rPr lang="en-US" dirty="0"/>
              <a:t> uses AI to suggest remedies that fit users need</a:t>
            </a:r>
            <a:endParaRPr lang="en-US" dirty="0"/>
          </a:p>
        </p:txBody>
      </p:sp>
      <p:sp>
        <p:nvSpPr>
          <p:cNvPr id="23" name="TextBox 22"/>
          <p:cNvSpPr txBox="1"/>
          <p:nvPr/>
        </p:nvSpPr>
        <p:spPr>
          <a:xfrm>
            <a:off x="8534400" y="4518660"/>
            <a:ext cx="3586480" cy="922020"/>
          </a:xfrm>
          <a:prstGeom prst="rect">
            <a:avLst/>
          </a:prstGeom>
          <a:noFill/>
        </p:spPr>
        <p:txBody>
          <a:bodyPr wrap="square" rtlCol="0">
            <a:spAutoFit/>
          </a:bodyPr>
          <a:lstStyle/>
          <a:p>
            <a:pPr algn="ctr"/>
            <a:r>
              <a:rPr lang="en-US" dirty="0"/>
              <a:t>Users can avoid costly doctor visits by using home remedies suggested by </a:t>
            </a:r>
            <a:r>
              <a:rPr lang="en-US" dirty="0" err="1"/>
              <a:t>ChatBot</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60780"/>
            <a:ext cx="9904095" cy="673100"/>
          </a:xfrm>
        </p:spPr>
        <p:txBody>
          <a:bodyPr>
            <a:normAutofit fontScale="90000"/>
          </a:bodyPr>
          <a:lstStyle/>
          <a:p>
            <a:r>
              <a:rPr lang="en-US" dirty="0"/>
              <a:t>EXISTING SYSTEM</a:t>
            </a:r>
            <a:endParaRPr lang="en-US" dirty="0"/>
          </a:p>
        </p:txBody>
      </p:sp>
      <p:graphicFrame>
        <p:nvGraphicFramePr>
          <p:cNvPr id="3" name="Table 3"/>
          <p:cNvGraphicFramePr>
            <a:graphicFrameLocks noGrp="1"/>
          </p:cNvGraphicFramePr>
          <p:nvPr/>
        </p:nvGraphicFramePr>
        <p:xfrm>
          <a:off x="1028147" y="2280108"/>
          <a:ext cx="8672444" cy="4335431"/>
        </p:xfrm>
        <a:graphic>
          <a:graphicData uri="http://schemas.openxmlformats.org/drawingml/2006/table">
            <a:tbl>
              <a:tblPr firstRow="1" bandRow="1">
                <a:tableStyleId>{16D9F66E-5EB9-4882-86FB-DCBF35E3C3E4}</a:tableStyleId>
              </a:tblPr>
              <a:tblGrid>
                <a:gridCol w="2168111"/>
                <a:gridCol w="2168111"/>
                <a:gridCol w="2168111"/>
                <a:gridCol w="2168111"/>
              </a:tblGrid>
              <a:tr h="769271">
                <a:tc>
                  <a:txBody>
                    <a:bodyPr/>
                    <a:lstStyle/>
                    <a:p>
                      <a:r>
                        <a:rPr lang="en-US" dirty="0"/>
                        <a:t>NAME</a:t>
                      </a:r>
                      <a:endParaRPr lang="en-US" dirty="0"/>
                    </a:p>
                  </a:txBody>
                  <a:tcPr/>
                </a:tc>
                <a:tc>
                  <a:txBody>
                    <a:bodyPr/>
                    <a:lstStyle/>
                    <a:p>
                      <a:r>
                        <a:rPr lang="en-US" dirty="0"/>
                        <a:t>LOCATION</a:t>
                      </a:r>
                      <a:endParaRPr lang="en-US" dirty="0"/>
                    </a:p>
                  </a:txBody>
                  <a:tcPr/>
                </a:tc>
                <a:tc>
                  <a:txBody>
                    <a:bodyPr/>
                    <a:lstStyle/>
                    <a:p>
                      <a:r>
                        <a:rPr lang="en-US" dirty="0"/>
                        <a:t>FOUNDING DATE</a:t>
                      </a:r>
                      <a:endParaRPr lang="en-US" dirty="0"/>
                    </a:p>
                  </a:txBody>
                  <a:tcPr/>
                </a:tc>
                <a:tc>
                  <a:txBody>
                    <a:bodyPr/>
                    <a:lstStyle/>
                    <a:p>
                      <a:r>
                        <a:rPr lang="en-US" dirty="0"/>
                        <a:t>DISADVANTAGE</a:t>
                      </a:r>
                      <a:endParaRPr lang="en-US" dirty="0"/>
                    </a:p>
                  </a:txBody>
                  <a:tcPr/>
                </a:tc>
              </a:tr>
              <a:tr h="769271">
                <a:tc>
                  <a:txBody>
                    <a:bodyPr/>
                    <a:lstStyle/>
                    <a:p>
                      <a:r>
                        <a:rPr lang="en-US" dirty="0"/>
                        <a:t>Health Tap</a:t>
                      </a:r>
                      <a:endParaRPr lang="en-US" dirty="0"/>
                    </a:p>
                  </a:txBody>
                  <a:tcPr/>
                </a:tc>
                <a:tc>
                  <a:txBody>
                    <a:bodyPr/>
                    <a:lstStyle/>
                    <a:p>
                      <a:r>
                        <a:rPr lang="en-US" dirty="0"/>
                        <a:t>Palo Alto, California, US</a:t>
                      </a:r>
                      <a:endParaRPr lang="en-US" dirty="0"/>
                    </a:p>
                  </a:txBody>
                  <a:tcPr/>
                </a:tc>
                <a:tc>
                  <a:txBody>
                    <a:bodyPr/>
                    <a:lstStyle/>
                    <a:p>
                      <a:r>
                        <a:rPr lang="en-US" dirty="0"/>
                        <a:t>2010</a:t>
                      </a:r>
                      <a:endParaRPr lang="en-US" dirty="0"/>
                    </a:p>
                  </a:txBody>
                  <a:tcPr/>
                </a:tc>
                <a:tc>
                  <a:txBody>
                    <a:bodyPr/>
                    <a:lstStyle/>
                    <a:p>
                      <a:r>
                        <a:rPr lang="en-US" dirty="0"/>
                        <a:t>It requires subscription for some features</a:t>
                      </a:r>
                      <a:endParaRPr lang="en-US" dirty="0"/>
                    </a:p>
                  </a:txBody>
                  <a:tcPr/>
                </a:tc>
              </a:tr>
              <a:tr h="769271">
                <a:tc>
                  <a:txBody>
                    <a:bodyPr/>
                    <a:lstStyle/>
                    <a:p>
                      <a:r>
                        <a:rPr lang="en-US" dirty="0"/>
                        <a:t>Ada Health</a:t>
                      </a:r>
                      <a:endParaRPr lang="en-US" dirty="0"/>
                    </a:p>
                  </a:txBody>
                  <a:tcPr/>
                </a:tc>
                <a:tc>
                  <a:txBody>
                    <a:bodyPr/>
                    <a:lstStyle/>
                    <a:p>
                      <a:r>
                        <a:rPr lang="en-US" dirty="0"/>
                        <a:t>Berlin, Germany</a:t>
                      </a:r>
                      <a:endParaRPr lang="en-US" dirty="0"/>
                    </a:p>
                  </a:txBody>
                  <a:tcPr/>
                </a:tc>
                <a:tc>
                  <a:txBody>
                    <a:bodyPr/>
                    <a:lstStyle/>
                    <a:p>
                      <a:r>
                        <a:rPr lang="en-US" dirty="0"/>
                        <a:t>2011</a:t>
                      </a:r>
                      <a:endParaRPr lang="en-US" dirty="0"/>
                    </a:p>
                  </a:txBody>
                  <a:tcPr/>
                </a:tc>
                <a:tc>
                  <a:txBody>
                    <a:bodyPr/>
                    <a:lstStyle/>
                    <a:p>
                      <a:r>
                        <a:rPr lang="en-US" dirty="0"/>
                        <a:t>It focuses more on diagnosis rather than home remedies</a:t>
                      </a:r>
                      <a:endParaRPr lang="en-US" dirty="0"/>
                    </a:p>
                  </a:txBody>
                  <a:tcPr/>
                </a:tc>
              </a:tr>
              <a:tr h="769271">
                <a:tc>
                  <a:txBody>
                    <a:bodyPr/>
                    <a:lstStyle/>
                    <a:p>
                      <a:r>
                        <a:rPr lang="en-US" dirty="0"/>
                        <a:t>Your.MD</a:t>
                      </a:r>
                      <a:endParaRPr lang="en-US" dirty="0"/>
                    </a:p>
                  </a:txBody>
                  <a:tcPr/>
                </a:tc>
                <a:tc>
                  <a:txBody>
                    <a:bodyPr/>
                    <a:lstStyle/>
                    <a:p>
                      <a:r>
                        <a:rPr lang="en-US" dirty="0"/>
                        <a:t>London, UK</a:t>
                      </a:r>
                      <a:endParaRPr lang="en-US" dirty="0"/>
                    </a:p>
                  </a:txBody>
                  <a:tcPr/>
                </a:tc>
                <a:tc>
                  <a:txBody>
                    <a:bodyPr/>
                    <a:lstStyle/>
                    <a:p>
                      <a:r>
                        <a:rPr lang="en-US" dirty="0"/>
                        <a:t>2014</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dirty="0"/>
                        <a:t>It focuses more on diagnosis rather than home remedies</a:t>
                      </a:r>
                      <a:endParaRPr lang="en-US" dirty="0"/>
                    </a:p>
                    <a:p>
                      <a:endParaRPr lang="en-US" dirty="0"/>
                    </a:p>
                  </a:txBody>
                  <a:tcPr/>
                </a:tc>
              </a:tr>
            </a:tbl>
          </a:graphicData>
        </a:graphic>
      </p:graphicFrame>
      <p:sp>
        <p:nvSpPr>
          <p:cNvPr id="4" name="Rectangles 3"/>
          <p:cNvSpPr/>
          <p:nvPr/>
        </p:nvSpPr>
        <p:spPr>
          <a:xfrm>
            <a:off x="1028065" y="257175"/>
            <a:ext cx="5140325" cy="645160"/>
          </a:xfrm>
          <a:prstGeom prst="rect">
            <a:avLst/>
          </a:prstGeom>
          <a:noFill/>
          <a:ln>
            <a:noFill/>
          </a:ln>
        </p:spPr>
        <p:txBody>
          <a:bodyPr wrap="square" rtlCol="0" anchor="t">
            <a:spAutoFit/>
          </a:bodyPr>
          <a:p>
            <a:pPr algn="ctr"/>
            <a:r>
              <a:rPr lang="en-US" altLang="zh-CN" sz="3600" b="1">
                <a:ln/>
                <a:solidFill>
                  <a:schemeClr val="tx1"/>
                </a:solidFill>
                <a:effectLst>
                  <a:outerShdw blurRad="38100" dist="19050" dir="2700000" algn="tl" rotWithShape="0">
                    <a:schemeClr val="dk1">
                      <a:alpha val="40000"/>
                    </a:schemeClr>
                  </a:outerShdw>
                </a:effectLst>
              </a:rPr>
              <a:t>Background Research</a:t>
            </a:r>
            <a:endParaRPr lang="en-US" altLang="zh-CN" sz="3600" b="1">
              <a:ln/>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09980"/>
            <a:ext cx="9872980" cy="581025"/>
          </a:xfrm>
        </p:spPr>
        <p:txBody>
          <a:bodyPr>
            <a:normAutofit fontScale="90000"/>
          </a:bodyPr>
          <a:lstStyle/>
          <a:p>
            <a:r>
              <a:rPr lang="en-US" dirty="0"/>
              <a:t>Proposed System</a:t>
            </a:r>
            <a:endParaRPr lang="en-US" dirty="0"/>
          </a:p>
        </p:txBody>
      </p:sp>
      <p:sp>
        <p:nvSpPr>
          <p:cNvPr id="3" name="Text Box 2"/>
          <p:cNvSpPr txBox="1"/>
          <p:nvPr/>
        </p:nvSpPr>
        <p:spPr>
          <a:xfrm>
            <a:off x="596900" y="2179320"/>
            <a:ext cx="10535285" cy="3476625"/>
          </a:xfrm>
          <a:prstGeom prst="rect">
            <a:avLst/>
          </a:prstGeom>
          <a:noFill/>
        </p:spPr>
        <p:txBody>
          <a:bodyPr wrap="square" rtlCol="0">
            <a:spAutoFit/>
          </a:bodyPr>
          <a:p>
            <a:pPr algn="l"/>
            <a:r>
              <a:rPr lang="en-US" sz="2000"/>
              <a:t>The chatbot project is designed to provide users with quick access to home remedies based on their health history. It allows users to input their health information, including symptoms, past medical issues or conditions, and any current medications and then recommends home remedies that they can try. This system is tailored towards all types of health conditions, so it should be beneficial to anyone looking for a natural approach to their health issues.</a:t>
            </a:r>
            <a:endParaRPr lang="en-US" sz="2000"/>
          </a:p>
          <a:p>
            <a:pPr algn="l"/>
            <a:endParaRPr lang="en-US" sz="2000"/>
          </a:p>
          <a:p>
            <a:pPr algn="l"/>
            <a:r>
              <a:rPr lang="en-US" sz="2000" u="sng"/>
              <a:t>FEATURES:</a:t>
            </a:r>
            <a:endParaRPr lang="en-US" sz="2000" u="sng"/>
          </a:p>
          <a:p>
            <a:pPr algn="l"/>
            <a:r>
              <a:rPr lang="en-US" sz="2000"/>
              <a:t>• Tailored home remedies based on user's health history </a:t>
            </a:r>
            <a:endParaRPr lang="en-US" sz="2000"/>
          </a:p>
          <a:p>
            <a:pPr algn="l"/>
            <a:r>
              <a:rPr lang="en-US" sz="2000"/>
              <a:t>• Different levels of advice depending on severity of the issue </a:t>
            </a:r>
            <a:endParaRPr lang="en-US" sz="2000"/>
          </a:p>
          <a:p>
            <a:pPr algn="l"/>
            <a:r>
              <a:rPr lang="en-US" sz="2000"/>
              <a:t>• Intuitive and easy-to-use interface </a:t>
            </a:r>
            <a:endParaRPr lang="en-US" sz="2000"/>
          </a:p>
          <a:p>
            <a:pPr algn="l"/>
            <a:r>
              <a:rPr lang="en-US" sz="2000"/>
              <a:t>• Quick access to home remedies</a:t>
            </a:r>
            <a:endParaRPr lang="en-US" sz="2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080135" y="457835"/>
            <a:ext cx="2540000" cy="1938020"/>
          </a:xfrm>
          <a:prstGeom prst="rect">
            <a:avLst/>
          </a:prstGeom>
          <a:noFill/>
        </p:spPr>
        <p:txBody>
          <a:bodyPr wrap="square" rtlCol="0" anchor="t">
            <a:spAutoFit/>
          </a:bodyPr>
          <a:p>
            <a:r>
              <a:rPr lang="en-US" sz="4000">
                <a:latin typeface="+mj-lt"/>
                <a:cs typeface="+mj-lt"/>
              </a:rPr>
              <a:t> Datasets</a:t>
            </a:r>
            <a:endParaRPr lang="en-US" sz="4000">
              <a:latin typeface="+mj-lt"/>
              <a:cs typeface="+mj-lt"/>
            </a:endParaRPr>
          </a:p>
          <a:p>
            <a:endParaRPr lang="en-US" sz="4000">
              <a:latin typeface="+mj-lt"/>
              <a:cs typeface="+mj-lt"/>
            </a:endParaRPr>
          </a:p>
        </p:txBody>
      </p:sp>
      <p:sp>
        <p:nvSpPr>
          <p:cNvPr id="5" name="Text Box 4"/>
          <p:cNvSpPr txBox="1"/>
          <p:nvPr/>
        </p:nvSpPr>
        <p:spPr>
          <a:xfrm>
            <a:off x="468630" y="1856740"/>
            <a:ext cx="11396345" cy="4092575"/>
          </a:xfrm>
          <a:prstGeom prst="rect">
            <a:avLst/>
          </a:prstGeom>
          <a:noFill/>
        </p:spPr>
        <p:txBody>
          <a:bodyPr wrap="square" rtlCol="0">
            <a:spAutoFit/>
          </a:bodyPr>
          <a:p>
            <a:pPr algn="l"/>
            <a:r>
              <a:rPr lang="en-US" sz="2000"/>
              <a:t>Datasets for a chatbot which provides home remedies could include medical information, home remedies, and tutorials. </a:t>
            </a:r>
            <a:endParaRPr lang="en-US" sz="2000"/>
          </a:p>
          <a:p>
            <a:pPr algn="l"/>
            <a:r>
              <a:rPr lang="en-US" sz="2000"/>
              <a:t>Medical:</a:t>
            </a:r>
            <a:endParaRPr lang="en-US" sz="2000"/>
          </a:p>
          <a:p>
            <a:pPr marL="342900" indent="-342900" algn="l">
              <a:buSzPct val="95000"/>
              <a:buFont typeface="Arial" panose="020B0604020202020204" pitchFamily="34" charset="0"/>
              <a:buChar char="•"/>
            </a:pPr>
            <a:r>
              <a:rPr lang="en-US" sz="2000"/>
              <a:t>articles on various remedies and treatments</a:t>
            </a:r>
            <a:endParaRPr lang="en-US" sz="2000"/>
          </a:p>
          <a:p>
            <a:pPr marL="342900" indent="-342900" algn="l">
              <a:buSzPct val="95000"/>
              <a:buFont typeface="Arial" panose="020B0604020202020204" pitchFamily="34" charset="0"/>
              <a:buChar char="•"/>
            </a:pPr>
            <a:r>
              <a:rPr lang="en-US" sz="2000"/>
              <a:t>information about common symptoms</a:t>
            </a:r>
            <a:endParaRPr lang="en-US" sz="2000"/>
          </a:p>
          <a:p>
            <a:pPr marL="342900" indent="-342900" algn="l">
              <a:buSzPct val="95000"/>
              <a:buFont typeface="Arial" panose="020B0604020202020204" pitchFamily="34" charset="0"/>
              <a:buChar char="•"/>
            </a:pPr>
            <a:r>
              <a:rPr lang="en-US" sz="2000"/>
              <a:t>warning signs</a:t>
            </a:r>
            <a:endParaRPr lang="en-US" sz="2000"/>
          </a:p>
          <a:p>
            <a:pPr algn="l"/>
            <a:r>
              <a:rPr lang="en-US" sz="2000"/>
              <a:t>Home remedies:</a:t>
            </a:r>
            <a:endParaRPr lang="en-US" sz="2000"/>
          </a:p>
          <a:p>
            <a:pPr marL="342900" indent="-342900" algn="l">
              <a:buSzPct val="95000"/>
              <a:buFont typeface="Arial" panose="020B0604020202020204" pitchFamily="34" charset="0"/>
              <a:buChar char="•"/>
            </a:pPr>
            <a:r>
              <a:rPr lang="en-US" sz="2000"/>
              <a:t>herbal recipes and instructions</a:t>
            </a:r>
            <a:endParaRPr lang="en-US" sz="2000"/>
          </a:p>
          <a:p>
            <a:pPr marL="342900" indent="-342900" algn="l">
              <a:buSzPct val="95000"/>
              <a:buFont typeface="Arial" panose="020B0604020202020204" pitchFamily="34" charset="0"/>
              <a:buChar char="•"/>
            </a:pPr>
            <a:r>
              <a:rPr lang="en-US" sz="2000"/>
              <a:t>tutorials</a:t>
            </a:r>
            <a:endParaRPr lang="en-US" sz="2000"/>
          </a:p>
          <a:p>
            <a:pPr algn="l"/>
            <a:r>
              <a:rPr lang="en-US" sz="2000"/>
              <a:t>  For example, a dataset could include an article about the common cold, a recipe for a herbal tea that can help relieve cold symptoms, and a tutorial on how to use home remedies in conjunction with medical treatments for the best results.</a:t>
            </a:r>
            <a:endParaRPr lang="en-US" sz="2000"/>
          </a:p>
          <a:p>
            <a:pPr algn="l"/>
            <a:endParaRPr lang="en-US" sz="2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19505"/>
            <a:ext cx="9985375" cy="571500"/>
          </a:xfrm>
        </p:spPr>
        <p:txBody>
          <a:bodyPr>
            <a:normAutofit fontScale="90000"/>
          </a:bodyPr>
          <a:lstStyle/>
          <a:p>
            <a:r>
              <a:rPr lang="en-US"/>
              <a:t>Project Flow Diagram</a:t>
            </a:r>
            <a:endParaRPr lang="en-US"/>
          </a:p>
        </p:txBody>
      </p:sp>
      <p:pic>
        <p:nvPicPr>
          <p:cNvPr id="100" name="Content Placeholder 99"/>
          <p:cNvPicPr/>
          <p:nvPr>
            <p:ph sz="half" idx="2"/>
          </p:nvPr>
        </p:nvPicPr>
        <p:blipFill>
          <a:blip r:embed="rId1"/>
          <a:srcRect r="-1631" b="-23433"/>
          <a:stretch>
            <a:fillRect/>
          </a:stretch>
        </p:blipFill>
        <p:spPr>
          <a:xfrm>
            <a:off x="701040" y="1979295"/>
            <a:ext cx="1384935" cy="1575435"/>
          </a:xfrm>
          <a:prstGeom prst="rect">
            <a:avLst/>
          </a:prstGeom>
          <a:noFill/>
          <a:ln w="9525">
            <a:noFill/>
          </a:ln>
        </p:spPr>
      </p:pic>
      <p:sp>
        <p:nvSpPr>
          <p:cNvPr id="4" name="Rectangles 3"/>
          <p:cNvSpPr/>
          <p:nvPr/>
        </p:nvSpPr>
        <p:spPr>
          <a:xfrm>
            <a:off x="3768725" y="1805940"/>
            <a:ext cx="2071370" cy="673735"/>
          </a:xfrm>
          <a:prstGeom prst="rect">
            <a:avLst/>
          </a:prstGeom>
        </p:spPr>
        <p:style>
          <a:lnRef idx="2">
            <a:schemeClr val="dk1"/>
          </a:lnRef>
          <a:fillRef idx="1">
            <a:schemeClr val="lt1"/>
          </a:fillRef>
          <a:effectRef idx="0">
            <a:schemeClr val="dk1"/>
          </a:effectRef>
          <a:fontRef idx="minor">
            <a:schemeClr val="dk1"/>
          </a:fontRef>
        </p:style>
        <p:txBody>
          <a:bodyPr rtlCol="0" anchor="ctr"/>
          <a:p>
            <a:pPr algn="ctr"/>
            <a:r>
              <a:rPr lang="en-US"/>
              <a:t>Web Text</a:t>
            </a:r>
            <a:endParaRPr lang="en-US"/>
          </a:p>
        </p:txBody>
      </p:sp>
      <p:sp>
        <p:nvSpPr>
          <p:cNvPr id="5" name="Rectangles 4"/>
          <p:cNvSpPr/>
          <p:nvPr/>
        </p:nvSpPr>
        <p:spPr>
          <a:xfrm>
            <a:off x="7340600" y="1805940"/>
            <a:ext cx="3092450" cy="673735"/>
          </a:xfrm>
          <a:prstGeom prst="rect">
            <a:avLst/>
          </a:prstGeom>
        </p:spPr>
        <p:style>
          <a:lnRef idx="2">
            <a:schemeClr val="dk1"/>
          </a:lnRef>
          <a:fillRef idx="1">
            <a:schemeClr val="lt1"/>
          </a:fillRef>
          <a:effectRef idx="0">
            <a:schemeClr val="dk1"/>
          </a:effectRef>
          <a:fontRef idx="minor">
            <a:schemeClr val="dk1"/>
          </a:fontRef>
        </p:style>
        <p:txBody>
          <a:bodyPr rtlCol="0" anchor="ctr"/>
          <a:p>
            <a:pPr algn="ctr"/>
            <a:r>
              <a:rPr lang="en-US"/>
              <a:t>Processing The Input</a:t>
            </a:r>
            <a:endParaRPr lang="en-US"/>
          </a:p>
        </p:txBody>
      </p:sp>
      <p:sp>
        <p:nvSpPr>
          <p:cNvPr id="7" name="Rectangles 6"/>
          <p:cNvSpPr/>
          <p:nvPr/>
        </p:nvSpPr>
        <p:spPr>
          <a:xfrm>
            <a:off x="7024370" y="3173730"/>
            <a:ext cx="1132840" cy="652780"/>
          </a:xfrm>
          <a:prstGeom prst="rect">
            <a:avLst/>
          </a:prstGeom>
        </p:spPr>
        <p:style>
          <a:lnRef idx="2">
            <a:schemeClr val="dk1"/>
          </a:lnRef>
          <a:fillRef idx="1">
            <a:schemeClr val="lt1"/>
          </a:fillRef>
          <a:effectRef idx="0">
            <a:schemeClr val="dk1"/>
          </a:effectRef>
          <a:fontRef idx="minor">
            <a:schemeClr val="dk1"/>
          </a:fontRef>
        </p:style>
        <p:txBody>
          <a:bodyPr rtlCol="0" anchor="ctr"/>
          <a:p>
            <a:pPr algn="ctr"/>
            <a:r>
              <a:rPr lang="en-US"/>
              <a:t>Disease</a:t>
            </a:r>
            <a:endParaRPr lang="en-US"/>
          </a:p>
        </p:txBody>
      </p:sp>
      <p:sp>
        <p:nvSpPr>
          <p:cNvPr id="8" name="Rectangles 7"/>
          <p:cNvSpPr/>
          <p:nvPr/>
        </p:nvSpPr>
        <p:spPr>
          <a:xfrm>
            <a:off x="9555480" y="3173730"/>
            <a:ext cx="1459230" cy="652780"/>
          </a:xfrm>
          <a:prstGeom prst="rect">
            <a:avLst/>
          </a:prstGeom>
        </p:spPr>
        <p:style>
          <a:lnRef idx="2">
            <a:schemeClr val="dk1"/>
          </a:lnRef>
          <a:fillRef idx="1">
            <a:schemeClr val="lt1"/>
          </a:fillRef>
          <a:effectRef idx="0">
            <a:schemeClr val="dk1"/>
          </a:effectRef>
          <a:fontRef idx="minor">
            <a:schemeClr val="dk1"/>
          </a:fontRef>
        </p:style>
        <p:txBody>
          <a:bodyPr rtlCol="0" anchor="ctr"/>
          <a:p>
            <a:pPr algn="ctr"/>
            <a:r>
              <a:rPr lang="en-US"/>
              <a:t>Symptoms</a:t>
            </a:r>
            <a:endParaRPr lang="en-US"/>
          </a:p>
        </p:txBody>
      </p:sp>
      <p:sp>
        <p:nvSpPr>
          <p:cNvPr id="9" name="Rectangles 8"/>
          <p:cNvSpPr/>
          <p:nvPr/>
        </p:nvSpPr>
        <p:spPr>
          <a:xfrm>
            <a:off x="9310370" y="4603750"/>
            <a:ext cx="2336800" cy="1183640"/>
          </a:xfrm>
          <a:prstGeom prst="rect">
            <a:avLst/>
          </a:prstGeom>
        </p:spPr>
        <p:style>
          <a:lnRef idx="2">
            <a:schemeClr val="dk1"/>
          </a:lnRef>
          <a:fillRef idx="1">
            <a:schemeClr val="lt1"/>
          </a:fillRef>
          <a:effectRef idx="0">
            <a:schemeClr val="dk1"/>
          </a:effectRef>
          <a:fontRef idx="minor">
            <a:schemeClr val="dk1"/>
          </a:fontRef>
        </p:style>
        <p:txBody>
          <a:bodyPr rtlCol="0" anchor="ctr"/>
          <a:p>
            <a:pPr algn="ctr"/>
            <a:r>
              <a:rPr lang="en-US"/>
              <a:t>Symptoms Clarification And Confirmation</a:t>
            </a:r>
            <a:endParaRPr lang="en-US"/>
          </a:p>
        </p:txBody>
      </p:sp>
      <p:sp>
        <p:nvSpPr>
          <p:cNvPr id="10" name="Rectangles 9"/>
          <p:cNvSpPr/>
          <p:nvPr/>
        </p:nvSpPr>
        <p:spPr>
          <a:xfrm>
            <a:off x="5483225" y="4603750"/>
            <a:ext cx="2673985" cy="1183640"/>
          </a:xfrm>
          <a:prstGeom prst="rect">
            <a:avLst/>
          </a:prstGeom>
        </p:spPr>
        <p:style>
          <a:lnRef idx="2">
            <a:schemeClr val="dk1"/>
          </a:lnRef>
          <a:fillRef idx="1">
            <a:schemeClr val="lt1"/>
          </a:fillRef>
          <a:effectRef idx="0">
            <a:schemeClr val="dk1"/>
          </a:effectRef>
          <a:fontRef idx="minor">
            <a:schemeClr val="dk1"/>
          </a:fontRef>
        </p:style>
        <p:txBody>
          <a:bodyPr rtlCol="0" anchor="ctr"/>
          <a:p>
            <a:pPr algn="ctr"/>
            <a:r>
              <a:rPr lang="en-US"/>
              <a:t>Displays The Remedies Based On User Symptoms</a:t>
            </a:r>
            <a:endParaRPr lang="en-US"/>
          </a:p>
        </p:txBody>
      </p:sp>
      <p:sp>
        <p:nvSpPr>
          <p:cNvPr id="11" name="Rectangles 10"/>
          <p:cNvSpPr/>
          <p:nvPr/>
        </p:nvSpPr>
        <p:spPr>
          <a:xfrm>
            <a:off x="1594485" y="5095240"/>
            <a:ext cx="2326640" cy="909955"/>
          </a:xfrm>
          <a:prstGeom prst="rect">
            <a:avLst/>
          </a:prstGeom>
        </p:spPr>
        <p:style>
          <a:lnRef idx="2">
            <a:schemeClr val="dk1"/>
          </a:lnRef>
          <a:fillRef idx="1">
            <a:schemeClr val="lt1"/>
          </a:fillRef>
          <a:effectRef idx="0">
            <a:schemeClr val="dk1"/>
          </a:effectRef>
          <a:fontRef idx="minor">
            <a:schemeClr val="dk1"/>
          </a:fontRef>
        </p:style>
        <p:txBody>
          <a:bodyPr rtlCol="0" anchor="ctr"/>
          <a:p>
            <a:pPr algn="ctr"/>
            <a:r>
              <a:rPr lang="en-US"/>
              <a:t>Displays the Cure Based On User Disease</a:t>
            </a:r>
            <a:endParaRPr lang="en-US"/>
          </a:p>
        </p:txBody>
      </p:sp>
      <p:sp>
        <p:nvSpPr>
          <p:cNvPr id="12" name="Can 11"/>
          <p:cNvSpPr/>
          <p:nvPr/>
        </p:nvSpPr>
        <p:spPr>
          <a:xfrm>
            <a:off x="3094990" y="3072765"/>
            <a:ext cx="867410" cy="1227455"/>
          </a:xfrm>
          <a:prstGeom prst="can">
            <a:avLst/>
          </a:prstGeom>
        </p:spPr>
        <p:style>
          <a:lnRef idx="2">
            <a:schemeClr val="dk1"/>
          </a:lnRef>
          <a:fillRef idx="1">
            <a:schemeClr val="lt1"/>
          </a:fillRef>
          <a:effectRef idx="0">
            <a:schemeClr val="dk1"/>
          </a:effectRef>
          <a:fontRef idx="minor">
            <a:schemeClr val="dk1"/>
          </a:fontRef>
        </p:style>
        <p:txBody>
          <a:bodyPr rtlCol="0" anchor="ctr"/>
          <a:p>
            <a:pPr algn="ctr"/>
            <a:r>
              <a:rPr lang="en-US"/>
              <a:t>Database</a:t>
            </a:r>
            <a:endParaRPr lang="en-US"/>
          </a:p>
        </p:txBody>
      </p:sp>
      <p:cxnSp>
        <p:nvCxnSpPr>
          <p:cNvPr id="14" name="Straight Arrow Connector 13"/>
          <p:cNvCxnSpPr/>
          <p:nvPr/>
        </p:nvCxnSpPr>
        <p:spPr>
          <a:xfrm flipV="1">
            <a:off x="2085975" y="2162810"/>
            <a:ext cx="1682750" cy="316865"/>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cxnSp>
        <p:nvCxnSpPr>
          <p:cNvPr id="15" name="Straight Arrow Connector 14"/>
          <p:cNvCxnSpPr/>
          <p:nvPr/>
        </p:nvCxnSpPr>
        <p:spPr>
          <a:xfrm>
            <a:off x="5840095" y="2162810"/>
            <a:ext cx="1500505" cy="0"/>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cxnSp>
        <p:nvCxnSpPr>
          <p:cNvPr id="16" name="Straight Arrow Connector 15"/>
          <p:cNvCxnSpPr/>
          <p:nvPr/>
        </p:nvCxnSpPr>
        <p:spPr>
          <a:xfrm>
            <a:off x="7590790" y="2479675"/>
            <a:ext cx="0" cy="711200"/>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cxnSp>
        <p:nvCxnSpPr>
          <p:cNvPr id="17" name="Straight Arrow Connector 16"/>
          <p:cNvCxnSpPr/>
          <p:nvPr/>
        </p:nvCxnSpPr>
        <p:spPr>
          <a:xfrm>
            <a:off x="10217785" y="2479675"/>
            <a:ext cx="0" cy="711200"/>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cxnSp>
        <p:nvCxnSpPr>
          <p:cNvPr id="18" name="Straight Arrow Connector 17"/>
          <p:cNvCxnSpPr/>
          <p:nvPr/>
        </p:nvCxnSpPr>
        <p:spPr>
          <a:xfrm>
            <a:off x="10217785" y="3826510"/>
            <a:ext cx="0" cy="772160"/>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cxnSp>
        <p:nvCxnSpPr>
          <p:cNvPr id="19" name="Straight Arrow Connector 18"/>
          <p:cNvCxnSpPr/>
          <p:nvPr/>
        </p:nvCxnSpPr>
        <p:spPr>
          <a:xfrm flipH="1">
            <a:off x="8157210" y="5195570"/>
            <a:ext cx="1136650" cy="0"/>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cxnSp>
        <p:nvCxnSpPr>
          <p:cNvPr id="20" name="Straight Arrow Connector 19"/>
          <p:cNvCxnSpPr/>
          <p:nvPr/>
        </p:nvCxnSpPr>
        <p:spPr>
          <a:xfrm>
            <a:off x="3962400" y="4030345"/>
            <a:ext cx="1520825" cy="857250"/>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cxnSp>
        <p:nvCxnSpPr>
          <p:cNvPr id="21" name="Straight Arrow Connector 20"/>
          <p:cNvCxnSpPr>
            <a:stCxn id="12" idx="3"/>
          </p:cNvCxnSpPr>
          <p:nvPr/>
        </p:nvCxnSpPr>
        <p:spPr>
          <a:xfrm flipH="1">
            <a:off x="2931795" y="4300220"/>
            <a:ext cx="596900" cy="795020"/>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cxnSp>
        <p:nvCxnSpPr>
          <p:cNvPr id="22" name="Straight Arrow Connector 21"/>
          <p:cNvCxnSpPr/>
          <p:nvPr/>
        </p:nvCxnSpPr>
        <p:spPr>
          <a:xfrm flipH="1">
            <a:off x="3921125" y="3458845"/>
            <a:ext cx="3103245" cy="1636395"/>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1119505"/>
            <a:ext cx="9985375" cy="571500"/>
          </a:xfrm>
        </p:spPr>
        <p:txBody>
          <a:bodyPr>
            <a:normAutofit fontScale="90000"/>
          </a:bodyPr>
          <a:p>
            <a:r>
              <a:rPr lang="en-US"/>
              <a:t>Modules</a:t>
            </a:r>
            <a:endParaRPr lang="en-US"/>
          </a:p>
        </p:txBody>
      </p:sp>
      <p:sp>
        <p:nvSpPr>
          <p:cNvPr id="5" name="Text Box 4"/>
          <p:cNvSpPr txBox="1"/>
          <p:nvPr/>
        </p:nvSpPr>
        <p:spPr>
          <a:xfrm>
            <a:off x="1043940" y="2653030"/>
            <a:ext cx="4092575" cy="1198880"/>
          </a:xfrm>
          <a:prstGeom prst="rect">
            <a:avLst/>
          </a:prstGeom>
          <a:noFill/>
        </p:spPr>
        <p:txBody>
          <a:bodyPr wrap="none" rtlCol="0">
            <a:spAutoFit/>
          </a:bodyPr>
          <a:p>
            <a:pPr marL="285750" indent="-285750" algn="l">
              <a:buFont typeface="Wingdings" panose="05000000000000000000" charset="0"/>
              <a:buChar char="q"/>
            </a:pPr>
            <a:r>
              <a:rPr lang="en-US" sz="2400"/>
              <a:t>Natural Language Processing,</a:t>
            </a:r>
            <a:endParaRPr lang="en-US" sz="2400"/>
          </a:p>
          <a:p>
            <a:pPr marL="285750" indent="-285750" algn="l">
              <a:buFont typeface="Wingdings" panose="05000000000000000000" charset="0"/>
              <a:buChar char="q"/>
            </a:pPr>
            <a:r>
              <a:rPr lang="en-US" sz="2400"/>
              <a:t>Machine Learning </a:t>
            </a:r>
            <a:endParaRPr lang="en-US" sz="2400"/>
          </a:p>
          <a:p>
            <a:pPr marL="285750" indent="-285750" algn="l">
              <a:buFont typeface="Wingdings" panose="05000000000000000000" charset="0"/>
              <a:buChar char="q"/>
            </a:pPr>
            <a:r>
              <a:rPr lang="en-US" sz="2400"/>
              <a:t>And A Database</a:t>
            </a:r>
            <a:endParaRPr lang="en-US" sz="2400"/>
          </a:p>
        </p:txBody>
      </p:sp>
      <p:sp>
        <p:nvSpPr>
          <p:cNvPr id="6" name="Text Box 5"/>
          <p:cNvSpPr txBox="1"/>
          <p:nvPr/>
        </p:nvSpPr>
        <p:spPr>
          <a:xfrm>
            <a:off x="3187065" y="1510030"/>
            <a:ext cx="309880" cy="368300"/>
          </a:xfrm>
          <a:prstGeom prst="rect">
            <a:avLst/>
          </a:prstGeom>
          <a:noFill/>
        </p:spPr>
        <p:txBody>
          <a:bodyPr wrap="none" rtlCol="0">
            <a:spAutoFit/>
          </a:bodyPr>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nvSpPr>
        <p:spPr>
          <a:xfrm>
            <a:off x="838200" y="1119505"/>
            <a:ext cx="9985375" cy="571500"/>
          </a:xfrm>
          <a:prstGeom prst="rect">
            <a:avLst/>
          </a:prstGeom>
        </p:spPr>
        <p:txBody>
          <a:bodyPr vert="horz" lIns="91440" tIns="45720" rIns="91440" bIns="45720" rtlCol="0" anchor="ctr">
            <a:normAutofit fontScale="7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Algorithm</a:t>
            </a:r>
            <a:endParaRPr lang="en-US"/>
          </a:p>
        </p:txBody>
      </p:sp>
      <p:sp>
        <p:nvSpPr>
          <p:cNvPr id="101" name="Text Box 100"/>
          <p:cNvSpPr txBox="1"/>
          <p:nvPr/>
        </p:nvSpPr>
        <p:spPr>
          <a:xfrm>
            <a:off x="718820" y="2071052"/>
            <a:ext cx="5080000" cy="398780"/>
          </a:xfrm>
          <a:prstGeom prst="rect">
            <a:avLst/>
          </a:prstGeom>
          <a:noFill/>
          <a:ln w="9525">
            <a:noFill/>
          </a:ln>
        </p:spPr>
        <p:txBody>
          <a:bodyPr>
            <a:spAutoFit/>
          </a:bodyPr>
          <a:p>
            <a:pPr indent="0"/>
            <a:r>
              <a:rPr lang="en-US" sz="2000" b="0">
                <a:solidFill>
                  <a:srgbClr val="353740"/>
                </a:solidFill>
                <a:cs typeface="+mn-lt"/>
              </a:rPr>
              <a:t>Recurrent Neural Network (RNN) algorithm</a:t>
            </a:r>
            <a:endParaRPr lang="en-US" sz="2000" b="0">
              <a:solidFill>
                <a:srgbClr val="353740"/>
              </a:solidFill>
              <a:cs typeface="+mn-lt"/>
            </a:endParaRPr>
          </a:p>
        </p:txBody>
      </p:sp>
      <p:sp>
        <p:nvSpPr>
          <p:cNvPr id="6" name="Text Box 5"/>
          <p:cNvSpPr txBox="1"/>
          <p:nvPr/>
        </p:nvSpPr>
        <p:spPr>
          <a:xfrm>
            <a:off x="838200" y="2908935"/>
            <a:ext cx="10339070" cy="706755"/>
          </a:xfrm>
          <a:prstGeom prst="rect">
            <a:avLst/>
          </a:prstGeom>
          <a:noFill/>
        </p:spPr>
        <p:txBody>
          <a:bodyPr wrap="square" rtlCol="0" anchor="t">
            <a:spAutoFit/>
          </a:bodyPr>
          <a:p>
            <a:pPr marL="342900" indent="-342900">
              <a:buFont typeface="Wingdings" panose="05000000000000000000" charset="0"/>
              <a:buChar char="§"/>
            </a:pPr>
            <a:r>
              <a:rPr lang="en-US" sz="2000"/>
              <a:t>Recurrent neural networks recognize data's sequential characteristics and use patterns to predict the next likely scenario. </a:t>
            </a:r>
            <a:endParaRPr lang="en-US" sz="2000"/>
          </a:p>
        </p:txBody>
      </p:sp>
      <p:pic>
        <p:nvPicPr>
          <p:cNvPr id="7" name="Picture 6"/>
          <p:cNvPicPr>
            <a:picLocks noChangeAspect="1"/>
          </p:cNvPicPr>
          <p:nvPr/>
        </p:nvPicPr>
        <p:blipFill>
          <a:blip r:embed="rId1"/>
          <a:stretch>
            <a:fillRect/>
          </a:stretch>
        </p:blipFill>
        <p:spPr>
          <a:xfrm>
            <a:off x="2507615" y="3681095"/>
            <a:ext cx="6788150" cy="24955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ctr">
              <a:buNone/>
            </a:pPr>
            <a:endParaRPr lang="en-US" sz="5400" dirty="0"/>
          </a:p>
          <a:p>
            <a:pPr algn="ctr">
              <a:buNone/>
            </a:pPr>
            <a:r>
              <a:rPr lang="en-US" sz="5400" dirty="0">
                <a:latin typeface="Times New Roman" panose="02020603050405020304" pitchFamily="18" charset="0"/>
                <a:cs typeface="Times New Roman" panose="02020603050405020304" pitchFamily="18" charset="0"/>
              </a:rPr>
              <a:t>Thank you</a:t>
            </a:r>
            <a:endParaRPr lang="en-US" sz="54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3502</Words>
  <Application>WPS Presentation</Application>
  <PresentationFormat>Widescreen</PresentationFormat>
  <Paragraphs>139</Paragraphs>
  <Slides>12</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12</vt:i4>
      </vt:variant>
    </vt:vector>
  </HeadingPairs>
  <TitlesOfParts>
    <vt:vector size="25" baseType="lpstr">
      <vt:lpstr>Arial</vt:lpstr>
      <vt:lpstr>SimSun</vt:lpstr>
      <vt:lpstr>Wingdings</vt:lpstr>
      <vt:lpstr>Times New Roman</vt:lpstr>
      <vt:lpstr>Bahnschrift</vt:lpstr>
      <vt:lpstr>Bahnschrift SemiLight SemiCondensed</vt:lpstr>
      <vt:lpstr>Calibri</vt:lpstr>
      <vt:lpstr>Microsoft YaHei</vt:lpstr>
      <vt:lpstr>Arial Unicode MS</vt:lpstr>
      <vt:lpstr>Calibri Light</vt:lpstr>
      <vt:lpstr>Arial Rounded MT Bold</vt:lpstr>
      <vt:lpstr>Wingdings</vt:lpstr>
      <vt:lpstr>Office Theme</vt:lpstr>
      <vt:lpstr>PowerPoint 演示文稿</vt:lpstr>
      <vt:lpstr>  RemediBot: Your Natural Health Advisor</vt:lpstr>
      <vt:lpstr>Problem Statement</vt:lpstr>
      <vt:lpstr>ABSTRACT</vt:lpstr>
      <vt:lpstr>PowerPoint 演示文稿</vt:lpstr>
      <vt:lpstr>EXISTING SYSTEM</vt:lpstr>
      <vt:lpstr>Proposed System</vt:lpstr>
      <vt:lpstr>PowerPoint 演示文稿</vt:lpstr>
      <vt:lpstr>Working Process</vt:lpstr>
      <vt:lpstr>Project Flow DiagramD</vt:lpstr>
      <vt:lpstr>Modules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Prakash Bandaru</dc:creator>
  <cp:lastModifiedBy>DELL 1</cp:lastModifiedBy>
  <cp:revision>51</cp:revision>
  <dcterms:created xsi:type="dcterms:W3CDTF">2021-12-07T12:16:00Z</dcterms:created>
  <dcterms:modified xsi:type="dcterms:W3CDTF">2023-06-22T18:01:47Z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56893528FC824E80BC78F6BE151077A1</vt:lpwstr>
  </property>
  <property fmtid="{D5CDD505-2E9C-101B-9397-08002B2CF9AE}" pid="3" name="KSOProductBuildVer">
    <vt:lpwstr>1033-11.2.0.11537</vt:lpwstr>
  </property>
</Properties>
</file>